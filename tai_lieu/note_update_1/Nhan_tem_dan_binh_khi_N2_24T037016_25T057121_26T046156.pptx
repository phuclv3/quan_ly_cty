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65" r:id="rId3"/>
    <p:sldId id="266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28" autoAdjust="0"/>
    <p:restoredTop sz="94660"/>
  </p:normalViewPr>
  <p:slideViewPr>
    <p:cSldViewPr snapToGrid="0">
      <p:cViewPr varScale="1">
        <p:scale>
          <a:sx n="114" d="100"/>
          <a:sy n="114" d="100"/>
        </p:scale>
        <p:origin x="504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E331DA-6CA6-4B3D-B8A7-91ED8EA31282}" type="datetimeFigureOut">
              <a:rPr lang="en-US" smtClean="0"/>
              <a:t>10/23/26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8A2292-E3CB-4DD4-9E0C-E68DCCE80D5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758475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E331DA-6CA6-4B3D-B8A7-91ED8EA31282}" type="datetimeFigureOut">
              <a:rPr lang="en-US" smtClean="0"/>
              <a:t>10/23/26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8A2292-E3CB-4DD4-9E0C-E68DCCE80D5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024032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E331DA-6CA6-4B3D-B8A7-91ED8EA31282}" type="datetimeFigureOut">
              <a:rPr lang="en-US" smtClean="0"/>
              <a:t>10/23/26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8A2292-E3CB-4DD4-9E0C-E68DCCE80D5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897487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E331DA-6CA6-4B3D-B8A7-91ED8EA31282}" type="datetimeFigureOut">
              <a:rPr lang="en-US" smtClean="0"/>
              <a:t>10/23/26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8A2292-E3CB-4DD4-9E0C-E68DCCE80D5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264169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E331DA-6CA6-4B3D-B8A7-91ED8EA31282}" type="datetimeFigureOut">
              <a:rPr lang="en-US" smtClean="0"/>
              <a:t>10/23/26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8A2292-E3CB-4DD4-9E0C-E68DCCE80D5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782983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E331DA-6CA6-4B3D-B8A7-91ED8EA31282}" type="datetimeFigureOut">
              <a:rPr lang="en-US" smtClean="0"/>
              <a:t>10/23/26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8A2292-E3CB-4DD4-9E0C-E68DCCE80D5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282567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E331DA-6CA6-4B3D-B8A7-91ED8EA31282}" type="datetimeFigureOut">
              <a:rPr lang="en-US" smtClean="0"/>
              <a:t>10/23/26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8A2292-E3CB-4DD4-9E0C-E68DCCE80D5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9450283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E331DA-6CA6-4B3D-B8A7-91ED8EA31282}" type="datetimeFigureOut">
              <a:rPr lang="en-US" smtClean="0"/>
              <a:t>10/23/26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8A2292-E3CB-4DD4-9E0C-E68DCCE80D5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992576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E331DA-6CA6-4B3D-B8A7-91ED8EA31282}" type="datetimeFigureOut">
              <a:rPr lang="en-US" smtClean="0"/>
              <a:t>10/23/26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8A2292-E3CB-4DD4-9E0C-E68DCCE80D5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48143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E331DA-6CA6-4B3D-B8A7-91ED8EA31282}" type="datetimeFigureOut">
              <a:rPr lang="en-US" smtClean="0"/>
              <a:t>10/23/26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8A2292-E3CB-4DD4-9E0C-E68DCCE80D5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871282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E331DA-6CA6-4B3D-B8A7-91ED8EA31282}" type="datetimeFigureOut">
              <a:rPr lang="en-US" smtClean="0"/>
              <a:t>10/23/26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8A2292-E3CB-4DD4-9E0C-E68DCCE80D5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416246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0E331DA-6CA6-4B3D-B8A7-91ED8EA31282}" type="datetimeFigureOut">
              <a:rPr lang="en-US" smtClean="0"/>
              <a:t>10/23/26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58A2292-E3CB-4DD4-9E0C-E68DCCE80D5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848443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22"/>
          <p:cNvGrpSpPr/>
          <p:nvPr/>
        </p:nvGrpSpPr>
        <p:grpSpPr>
          <a:xfrm>
            <a:off x="1" y="15281"/>
            <a:ext cx="12187155" cy="6840000"/>
            <a:chOff x="1" y="15281"/>
            <a:chExt cx="12187155" cy="6840000"/>
          </a:xfrm>
        </p:grpSpPr>
        <p:grpSp>
          <p:nvGrpSpPr>
            <p:cNvPr id="15" name="Group 14"/>
            <p:cNvGrpSpPr/>
            <p:nvPr/>
          </p:nvGrpSpPr>
          <p:grpSpPr>
            <a:xfrm>
              <a:off x="1" y="15281"/>
              <a:ext cx="12187155" cy="6840000"/>
              <a:chOff x="1" y="15281"/>
              <a:chExt cx="12187155" cy="6840000"/>
            </a:xfrm>
          </p:grpSpPr>
          <p:pic>
            <p:nvPicPr>
              <p:cNvPr id="4" name="Picture 3"/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1" y="15281"/>
                <a:ext cx="12187155" cy="6840000"/>
              </a:xfrm>
              <a:prstGeom prst="rect">
                <a:avLst/>
              </a:prstGeom>
            </p:spPr>
          </p:pic>
          <p:sp>
            <p:nvSpPr>
              <p:cNvPr id="5" name="TextBox 4"/>
              <p:cNvSpPr txBox="1"/>
              <p:nvPr/>
            </p:nvSpPr>
            <p:spPr>
              <a:xfrm>
                <a:off x="9017000" y="1282700"/>
                <a:ext cx="660400" cy="2308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900"/>
                  <a:t>10L</a:t>
                </a:r>
              </a:p>
            </p:txBody>
          </p:sp>
          <p:sp>
            <p:nvSpPr>
              <p:cNvPr id="6" name="TextBox 5"/>
              <p:cNvSpPr txBox="1"/>
              <p:nvPr/>
            </p:nvSpPr>
            <p:spPr>
              <a:xfrm>
                <a:off x="9017000" y="1479550"/>
                <a:ext cx="660400" cy="2308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900"/>
                  <a:t>QF-2</a:t>
                </a:r>
              </a:p>
            </p:txBody>
          </p:sp>
          <p:sp>
            <p:nvSpPr>
              <p:cNvPr id="7" name="TextBox 6"/>
              <p:cNvSpPr txBox="1"/>
              <p:nvPr/>
            </p:nvSpPr>
            <p:spPr>
              <a:xfrm>
                <a:off x="9017000" y="1682750"/>
                <a:ext cx="660400" cy="2308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900"/>
                  <a:t>Thép</a:t>
                </a:r>
              </a:p>
            </p:txBody>
          </p:sp>
          <p:sp>
            <p:nvSpPr>
              <p:cNvPr id="8" name="TextBox 7"/>
              <p:cNvSpPr txBox="1"/>
              <p:nvPr/>
            </p:nvSpPr>
            <p:spPr>
              <a:xfrm>
                <a:off x="9017000" y="1879600"/>
                <a:ext cx="660400" cy="2308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900"/>
                  <a:t>15 MPa</a:t>
                </a:r>
              </a:p>
            </p:txBody>
          </p:sp>
          <p:sp>
            <p:nvSpPr>
              <p:cNvPr id="9" name="TextBox 8"/>
              <p:cNvSpPr txBox="1"/>
              <p:nvPr/>
            </p:nvSpPr>
            <p:spPr>
              <a:xfrm>
                <a:off x="9017000" y="2095500"/>
                <a:ext cx="1098550" cy="2308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900" b="0" i="0" dirty="0">
                    <a:effectLst/>
                    <a:latin typeface="Calibri" panose="020F0502020204030204" pitchFamily="34" charset="0"/>
                    <a:cs typeface="Calibri" panose="020F0502020204030204" pitchFamily="34" charset="0"/>
                  </a:rPr>
                  <a:t>25T 057132</a:t>
                </a:r>
                <a:endParaRPr lang="en-US" sz="900" dirty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10" name="TextBox 9"/>
              <p:cNvSpPr txBox="1"/>
              <p:nvPr/>
            </p:nvSpPr>
            <p:spPr>
              <a:xfrm>
                <a:off x="9017000" y="2298700"/>
                <a:ext cx="660400" cy="2308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900"/>
                  <a:t>UN 1066</a:t>
                </a:r>
              </a:p>
            </p:txBody>
          </p:sp>
          <p:sp>
            <p:nvSpPr>
              <p:cNvPr id="11" name="TextBox 10"/>
              <p:cNvSpPr txBox="1"/>
              <p:nvPr/>
            </p:nvSpPr>
            <p:spPr>
              <a:xfrm>
                <a:off x="9017000" y="2514600"/>
                <a:ext cx="660400" cy="2308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endParaRPr lang="en-US" sz="900"/>
              </a:p>
            </p:txBody>
          </p:sp>
          <p:sp>
            <p:nvSpPr>
              <p:cNvPr id="12" name="TextBox 11"/>
              <p:cNvSpPr txBox="1"/>
              <p:nvPr/>
            </p:nvSpPr>
            <p:spPr>
              <a:xfrm>
                <a:off x="9017000" y="2717800"/>
                <a:ext cx="660400" cy="2308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900"/>
                  <a:t>Việt Nam</a:t>
                </a:r>
              </a:p>
            </p:txBody>
          </p:sp>
          <p:sp>
            <p:nvSpPr>
              <p:cNvPr id="13" name="TextBox 12"/>
              <p:cNvSpPr txBox="1"/>
              <p:nvPr/>
            </p:nvSpPr>
            <p:spPr>
              <a:xfrm>
                <a:off x="9017000" y="2933700"/>
                <a:ext cx="2946400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900"/>
                  <a:t>Nếu nuốt phải: yêu cầu hồ trợ y tế nếu thấy khó chịu</a:t>
                </a:r>
              </a:p>
              <a:p>
                <a:r>
                  <a:rPr lang="en-US" sz="900"/>
                  <a:t>Nếu hít phải: di chuyển nạn nhân tới chỗ thoáng khí</a:t>
                </a:r>
              </a:p>
              <a:p>
                <a:r>
                  <a:rPr lang="en-US" sz="900"/>
                  <a:t>Nếu dính vào da: rửa sạch với nhiều nước</a:t>
                </a:r>
              </a:p>
              <a:p>
                <a:r>
                  <a:rPr lang="en-US" sz="900"/>
                  <a:t>Nếu dính vào mắt: rửa liên tục bằng nước, y/c hỗ trợ y tế</a:t>
                </a:r>
              </a:p>
            </p:txBody>
          </p:sp>
          <p:sp>
            <p:nvSpPr>
              <p:cNvPr id="14" name="TextBox 13"/>
              <p:cNvSpPr txBox="1"/>
              <p:nvPr/>
            </p:nvSpPr>
            <p:spPr>
              <a:xfrm>
                <a:off x="9017000" y="3505200"/>
                <a:ext cx="2946400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900"/>
                  <a:t>Đảm bảo môi trường thông thoáng tại nơi làm việc</a:t>
                </a:r>
              </a:p>
              <a:p>
                <a:r>
                  <a:rPr lang="en-US" sz="900"/>
                  <a:t>Mặc quần áo, thiết bị bảo hộ khi làm việc</a:t>
                </a:r>
              </a:p>
              <a:p>
                <a:r>
                  <a:rPr lang="en-US" sz="900"/>
                  <a:t>Không ăn, uống và hút thuốc tại khu vực làm việc. Rửa tay sau khi sử dụng</a:t>
                </a:r>
              </a:p>
            </p:txBody>
          </p:sp>
        </p:grpSp>
        <p:sp>
          <p:nvSpPr>
            <p:cNvPr id="16" name="TextBox 15"/>
            <p:cNvSpPr txBox="1"/>
            <p:nvPr/>
          </p:nvSpPr>
          <p:spPr>
            <a:xfrm>
              <a:off x="9417050" y="4178300"/>
              <a:ext cx="1193800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900" dirty="0"/>
                <a:t>23/10/2026</a:t>
              </a:r>
            </a:p>
          </p:txBody>
        </p:sp>
        <p:sp>
          <p:nvSpPr>
            <p:cNvPr id="17" name="TextBox 16"/>
            <p:cNvSpPr txBox="1"/>
            <p:nvPr/>
          </p:nvSpPr>
          <p:spPr>
            <a:xfrm>
              <a:off x="9417050" y="4356100"/>
              <a:ext cx="1193800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900" dirty="0"/>
                <a:t>23/10/2027</a:t>
              </a:r>
            </a:p>
          </p:txBody>
        </p:sp>
        <p:sp>
          <p:nvSpPr>
            <p:cNvPr id="18" name="TextBox 17"/>
            <p:cNvSpPr txBox="1"/>
            <p:nvPr/>
          </p:nvSpPr>
          <p:spPr>
            <a:xfrm>
              <a:off x="6409650" y="5705475"/>
              <a:ext cx="1900000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100"/>
                <a:t>Nitơ</a:t>
              </a:r>
            </a:p>
          </p:txBody>
        </p:sp>
        <p:sp>
          <p:nvSpPr>
            <p:cNvPr id="19" name="TextBox 18"/>
            <p:cNvSpPr txBox="1"/>
            <p:nvPr/>
          </p:nvSpPr>
          <p:spPr>
            <a:xfrm>
              <a:off x="8414650" y="5705475"/>
              <a:ext cx="1700000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200"/>
                <a:t>N</a:t>
              </a:r>
              <a:r>
                <a:rPr lang="en-US" sz="1200" baseline="-25000"/>
                <a:t>2</a:t>
              </a:r>
            </a:p>
          </p:txBody>
        </p:sp>
        <p:sp>
          <p:nvSpPr>
            <p:cNvPr id="20" name="TextBox 19"/>
            <p:cNvSpPr txBox="1"/>
            <p:nvPr/>
          </p:nvSpPr>
          <p:spPr>
            <a:xfrm>
              <a:off x="10675650" y="5705475"/>
              <a:ext cx="683200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200" dirty="0"/>
                <a:t>99.99 %</a:t>
              </a:r>
            </a:p>
          </p:txBody>
        </p:sp>
        <p:sp>
          <p:nvSpPr>
            <p:cNvPr id="21" name="TextBox 20"/>
            <p:cNvSpPr txBox="1"/>
            <p:nvPr/>
          </p:nvSpPr>
          <p:spPr>
            <a:xfrm>
              <a:off x="8705850" y="4832350"/>
              <a:ext cx="1600200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800" b="1">
                  <a:solidFill>
                    <a:schemeClr val="bg1"/>
                  </a:solidFill>
                </a:rPr>
                <a:t>N</a:t>
              </a:r>
              <a:r>
                <a:rPr lang="en-US" sz="800" b="1" baseline="-25000">
                  <a:solidFill>
                    <a:schemeClr val="bg1"/>
                  </a:solidFill>
                </a:rPr>
                <a:t>2</a:t>
              </a:r>
            </a:p>
          </p:txBody>
        </p:sp>
        <p:sp>
          <p:nvSpPr>
            <p:cNvPr id="22" name="TextBox 21"/>
            <p:cNvSpPr txBox="1"/>
            <p:nvPr/>
          </p:nvSpPr>
          <p:spPr>
            <a:xfrm>
              <a:off x="8985250" y="4585900"/>
              <a:ext cx="160020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400" b="1">
                  <a:solidFill>
                    <a:schemeClr val="bg1"/>
                  </a:solidFill>
                </a:rPr>
                <a:t>N</a:t>
              </a:r>
              <a:r>
                <a:rPr lang="en-US" sz="1400" b="1" baseline="-25000">
                  <a:solidFill>
                    <a:schemeClr val="bg1"/>
                  </a:solidFill>
                </a:rPr>
                <a:t>2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30076819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22"/>
          <p:cNvGrpSpPr/>
          <p:nvPr/>
        </p:nvGrpSpPr>
        <p:grpSpPr>
          <a:xfrm>
            <a:off x="0" y="15281"/>
            <a:ext cx="12192000" cy="6842719"/>
            <a:chOff x="0" y="15281"/>
            <a:chExt cx="12192000" cy="6842719"/>
          </a:xfrm>
        </p:grpSpPr>
        <p:grpSp>
          <p:nvGrpSpPr>
            <p:cNvPr id="15" name="Group 14"/>
            <p:cNvGrpSpPr/>
            <p:nvPr/>
          </p:nvGrpSpPr>
          <p:grpSpPr>
            <a:xfrm>
              <a:off x="0" y="15281"/>
              <a:ext cx="12192000" cy="6842719"/>
              <a:chOff x="0" y="15281"/>
              <a:chExt cx="12192000" cy="6842719"/>
            </a:xfrm>
          </p:grpSpPr>
          <p:pic>
            <p:nvPicPr>
              <p:cNvPr id="4" name="Picture 3"/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0" y="15281"/>
                <a:ext cx="12192000" cy="6842719"/>
              </a:xfrm>
              <a:prstGeom prst="rect">
                <a:avLst/>
              </a:prstGeom>
            </p:spPr>
          </p:pic>
          <p:sp>
            <p:nvSpPr>
              <p:cNvPr id="5" name="TextBox 4"/>
              <p:cNvSpPr txBox="1"/>
              <p:nvPr/>
            </p:nvSpPr>
            <p:spPr>
              <a:xfrm>
                <a:off x="9017000" y="1282700"/>
                <a:ext cx="660400" cy="2308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900"/>
                  <a:t>10L</a:t>
                </a:r>
              </a:p>
            </p:txBody>
          </p:sp>
          <p:sp>
            <p:nvSpPr>
              <p:cNvPr id="6" name="TextBox 5"/>
              <p:cNvSpPr txBox="1"/>
              <p:nvPr/>
            </p:nvSpPr>
            <p:spPr>
              <a:xfrm>
                <a:off x="9017000" y="1479550"/>
                <a:ext cx="660400" cy="2308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900"/>
                  <a:t>QF-2</a:t>
                </a:r>
              </a:p>
            </p:txBody>
          </p:sp>
          <p:sp>
            <p:nvSpPr>
              <p:cNvPr id="7" name="TextBox 6"/>
              <p:cNvSpPr txBox="1"/>
              <p:nvPr/>
            </p:nvSpPr>
            <p:spPr>
              <a:xfrm>
                <a:off x="9017000" y="1682750"/>
                <a:ext cx="660400" cy="2308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900" dirty="0" err="1"/>
                  <a:t>Nhôm</a:t>
                </a:r>
                <a:endParaRPr lang="en-US" sz="900" dirty="0"/>
              </a:p>
            </p:txBody>
          </p:sp>
          <p:sp>
            <p:nvSpPr>
              <p:cNvPr id="8" name="TextBox 7"/>
              <p:cNvSpPr txBox="1"/>
              <p:nvPr/>
            </p:nvSpPr>
            <p:spPr>
              <a:xfrm>
                <a:off x="9017000" y="1879600"/>
                <a:ext cx="660400" cy="2308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900" dirty="0"/>
                  <a:t>15 MPa</a:t>
                </a:r>
              </a:p>
            </p:txBody>
          </p:sp>
          <p:sp>
            <p:nvSpPr>
              <p:cNvPr id="9" name="TextBox 8"/>
              <p:cNvSpPr txBox="1"/>
              <p:nvPr/>
            </p:nvSpPr>
            <p:spPr>
              <a:xfrm>
                <a:off x="9017000" y="2095500"/>
                <a:ext cx="1098550" cy="2308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KR" sz="900" b="0" i="0" dirty="0">
                    <a:effectLst/>
                    <a:latin typeface="Calibri" panose="020F0502020204030204" pitchFamily="34" charset="0"/>
                    <a:cs typeface="Calibri" panose="020F0502020204030204" pitchFamily="34" charset="0"/>
                  </a:rPr>
                  <a:t>200253906194 </a:t>
                </a:r>
                <a:endParaRPr lang="en-US" sz="900" dirty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10" name="TextBox 9"/>
              <p:cNvSpPr txBox="1"/>
              <p:nvPr/>
            </p:nvSpPr>
            <p:spPr>
              <a:xfrm>
                <a:off x="9017000" y="2298700"/>
                <a:ext cx="660400" cy="2308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900"/>
                  <a:t>UN 1066</a:t>
                </a:r>
              </a:p>
            </p:txBody>
          </p:sp>
          <p:sp>
            <p:nvSpPr>
              <p:cNvPr id="11" name="TextBox 10"/>
              <p:cNvSpPr txBox="1"/>
              <p:nvPr/>
            </p:nvSpPr>
            <p:spPr>
              <a:xfrm>
                <a:off x="9017000" y="2514600"/>
                <a:ext cx="660400" cy="2308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endParaRPr lang="en-US" sz="900"/>
              </a:p>
            </p:txBody>
          </p:sp>
          <p:sp>
            <p:nvSpPr>
              <p:cNvPr id="12" name="TextBox 11"/>
              <p:cNvSpPr txBox="1"/>
              <p:nvPr/>
            </p:nvSpPr>
            <p:spPr>
              <a:xfrm>
                <a:off x="9017000" y="2717800"/>
                <a:ext cx="660400" cy="2308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900"/>
                  <a:t>Việt Nam</a:t>
                </a:r>
              </a:p>
            </p:txBody>
          </p:sp>
          <p:sp>
            <p:nvSpPr>
              <p:cNvPr id="13" name="TextBox 12"/>
              <p:cNvSpPr txBox="1"/>
              <p:nvPr/>
            </p:nvSpPr>
            <p:spPr>
              <a:xfrm>
                <a:off x="9017000" y="2933700"/>
                <a:ext cx="2946400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900" dirty="0" err="1"/>
                  <a:t>Nếu</a:t>
                </a:r>
                <a:r>
                  <a:rPr lang="en-US" sz="900" dirty="0"/>
                  <a:t> </a:t>
                </a:r>
                <a:r>
                  <a:rPr lang="en-US" sz="900" dirty="0" err="1"/>
                  <a:t>nuốt</a:t>
                </a:r>
                <a:r>
                  <a:rPr lang="en-US" sz="900" dirty="0"/>
                  <a:t> </a:t>
                </a:r>
                <a:r>
                  <a:rPr lang="en-US" sz="900" dirty="0" err="1"/>
                  <a:t>phải</a:t>
                </a:r>
                <a:r>
                  <a:rPr lang="en-US" sz="900" dirty="0"/>
                  <a:t>: </a:t>
                </a:r>
                <a:r>
                  <a:rPr lang="en-US" sz="900" dirty="0" err="1"/>
                  <a:t>yêu</a:t>
                </a:r>
                <a:r>
                  <a:rPr lang="en-US" sz="900" dirty="0"/>
                  <a:t> </a:t>
                </a:r>
                <a:r>
                  <a:rPr lang="en-US" sz="900" dirty="0" err="1"/>
                  <a:t>cầu</a:t>
                </a:r>
                <a:r>
                  <a:rPr lang="en-US" sz="900" dirty="0"/>
                  <a:t> </a:t>
                </a:r>
                <a:r>
                  <a:rPr lang="en-US" sz="900" dirty="0" err="1"/>
                  <a:t>hồ</a:t>
                </a:r>
                <a:r>
                  <a:rPr lang="en-US" sz="900" dirty="0"/>
                  <a:t> </a:t>
                </a:r>
                <a:r>
                  <a:rPr lang="en-US" sz="900" dirty="0" err="1"/>
                  <a:t>trợ</a:t>
                </a:r>
                <a:r>
                  <a:rPr lang="en-US" sz="900" dirty="0"/>
                  <a:t> y </a:t>
                </a:r>
                <a:r>
                  <a:rPr lang="en-US" sz="900" dirty="0" err="1"/>
                  <a:t>tế</a:t>
                </a:r>
                <a:r>
                  <a:rPr lang="en-US" sz="900" dirty="0"/>
                  <a:t> </a:t>
                </a:r>
                <a:r>
                  <a:rPr lang="en-US" sz="900" dirty="0" err="1"/>
                  <a:t>nếu</a:t>
                </a:r>
                <a:r>
                  <a:rPr lang="en-US" sz="900" dirty="0"/>
                  <a:t> </a:t>
                </a:r>
                <a:r>
                  <a:rPr lang="en-US" sz="900" dirty="0" err="1"/>
                  <a:t>thấy</a:t>
                </a:r>
                <a:r>
                  <a:rPr lang="en-US" sz="900" dirty="0"/>
                  <a:t> </a:t>
                </a:r>
                <a:r>
                  <a:rPr lang="en-US" sz="900" dirty="0" err="1"/>
                  <a:t>khó</a:t>
                </a:r>
                <a:r>
                  <a:rPr lang="en-US" sz="900" dirty="0"/>
                  <a:t> </a:t>
                </a:r>
                <a:r>
                  <a:rPr lang="en-US" sz="900" dirty="0" err="1"/>
                  <a:t>chịu</a:t>
                </a:r>
                <a:endParaRPr lang="en-US" sz="900" dirty="0"/>
              </a:p>
              <a:p>
                <a:r>
                  <a:rPr lang="en-US" sz="900" dirty="0" err="1"/>
                  <a:t>Nếu</a:t>
                </a:r>
                <a:r>
                  <a:rPr lang="en-US" sz="900" dirty="0"/>
                  <a:t> </a:t>
                </a:r>
                <a:r>
                  <a:rPr lang="en-US" sz="900" dirty="0" err="1"/>
                  <a:t>hít</a:t>
                </a:r>
                <a:r>
                  <a:rPr lang="en-US" sz="900" dirty="0"/>
                  <a:t> </a:t>
                </a:r>
                <a:r>
                  <a:rPr lang="en-US" sz="900" dirty="0" err="1"/>
                  <a:t>phải</a:t>
                </a:r>
                <a:r>
                  <a:rPr lang="en-US" sz="900" dirty="0"/>
                  <a:t>: di </a:t>
                </a:r>
                <a:r>
                  <a:rPr lang="en-US" sz="900" dirty="0" err="1"/>
                  <a:t>chuyển</a:t>
                </a:r>
                <a:r>
                  <a:rPr lang="en-US" sz="900" dirty="0"/>
                  <a:t> </a:t>
                </a:r>
                <a:r>
                  <a:rPr lang="en-US" sz="900" dirty="0" err="1"/>
                  <a:t>nạn</a:t>
                </a:r>
                <a:r>
                  <a:rPr lang="en-US" sz="900" dirty="0"/>
                  <a:t> </a:t>
                </a:r>
                <a:r>
                  <a:rPr lang="en-US" sz="900" dirty="0" err="1"/>
                  <a:t>nhân</a:t>
                </a:r>
                <a:r>
                  <a:rPr lang="en-US" sz="900" dirty="0"/>
                  <a:t> </a:t>
                </a:r>
                <a:r>
                  <a:rPr lang="en-US" sz="900" dirty="0" err="1"/>
                  <a:t>tới</a:t>
                </a:r>
                <a:r>
                  <a:rPr lang="en-US" sz="900" dirty="0"/>
                  <a:t> </a:t>
                </a:r>
                <a:r>
                  <a:rPr lang="en-US" sz="900" dirty="0" err="1"/>
                  <a:t>chỗ</a:t>
                </a:r>
                <a:r>
                  <a:rPr lang="en-US" sz="900" dirty="0"/>
                  <a:t> </a:t>
                </a:r>
                <a:r>
                  <a:rPr lang="en-US" sz="900" dirty="0" err="1"/>
                  <a:t>thoáng</a:t>
                </a:r>
                <a:r>
                  <a:rPr lang="en-US" sz="900" dirty="0"/>
                  <a:t> </a:t>
                </a:r>
                <a:r>
                  <a:rPr lang="en-US" sz="900" dirty="0" err="1"/>
                  <a:t>khí</a:t>
                </a:r>
                <a:endParaRPr lang="en-US" sz="900" dirty="0"/>
              </a:p>
              <a:p>
                <a:r>
                  <a:rPr lang="en-US" sz="900" dirty="0" err="1"/>
                  <a:t>Nếu</a:t>
                </a:r>
                <a:r>
                  <a:rPr lang="en-US" sz="900" dirty="0"/>
                  <a:t> </a:t>
                </a:r>
                <a:r>
                  <a:rPr lang="en-US" sz="900" dirty="0" err="1"/>
                  <a:t>dính</a:t>
                </a:r>
                <a:r>
                  <a:rPr lang="en-US" sz="900" dirty="0"/>
                  <a:t> </a:t>
                </a:r>
                <a:r>
                  <a:rPr lang="en-US" sz="900" dirty="0" err="1"/>
                  <a:t>vào</a:t>
                </a:r>
                <a:r>
                  <a:rPr lang="en-US" sz="900" dirty="0"/>
                  <a:t> da: </a:t>
                </a:r>
                <a:r>
                  <a:rPr lang="en-US" sz="900" dirty="0" err="1"/>
                  <a:t>rửa</a:t>
                </a:r>
                <a:r>
                  <a:rPr lang="en-US" sz="900" dirty="0"/>
                  <a:t> </a:t>
                </a:r>
                <a:r>
                  <a:rPr lang="en-US" sz="900" dirty="0" err="1"/>
                  <a:t>sạch</a:t>
                </a:r>
                <a:r>
                  <a:rPr lang="en-US" sz="900" dirty="0"/>
                  <a:t> </a:t>
                </a:r>
                <a:r>
                  <a:rPr lang="en-US" sz="900" dirty="0" err="1"/>
                  <a:t>với</a:t>
                </a:r>
                <a:r>
                  <a:rPr lang="en-US" sz="900" dirty="0"/>
                  <a:t> </a:t>
                </a:r>
                <a:r>
                  <a:rPr lang="en-US" sz="900" dirty="0" err="1"/>
                  <a:t>nhiều</a:t>
                </a:r>
                <a:r>
                  <a:rPr lang="en-US" sz="900" dirty="0"/>
                  <a:t> </a:t>
                </a:r>
                <a:r>
                  <a:rPr lang="en-US" sz="900" dirty="0" err="1"/>
                  <a:t>nước</a:t>
                </a:r>
                <a:endParaRPr lang="en-US" sz="900" dirty="0"/>
              </a:p>
              <a:p>
                <a:r>
                  <a:rPr lang="en-US" sz="900" dirty="0" err="1"/>
                  <a:t>Nếu</a:t>
                </a:r>
                <a:r>
                  <a:rPr lang="en-US" sz="900" dirty="0"/>
                  <a:t> </a:t>
                </a:r>
                <a:r>
                  <a:rPr lang="en-US" sz="900" dirty="0" err="1"/>
                  <a:t>dính</a:t>
                </a:r>
                <a:r>
                  <a:rPr lang="en-US" sz="900" dirty="0"/>
                  <a:t> </a:t>
                </a:r>
                <a:r>
                  <a:rPr lang="en-US" sz="900" dirty="0" err="1"/>
                  <a:t>vào</a:t>
                </a:r>
                <a:r>
                  <a:rPr lang="en-US" sz="900" dirty="0"/>
                  <a:t> </a:t>
                </a:r>
                <a:r>
                  <a:rPr lang="en-US" sz="900" dirty="0" err="1"/>
                  <a:t>mắt</a:t>
                </a:r>
                <a:r>
                  <a:rPr lang="en-US" sz="900" dirty="0"/>
                  <a:t>: </a:t>
                </a:r>
                <a:r>
                  <a:rPr lang="en-US" sz="900" dirty="0" err="1"/>
                  <a:t>rửa</a:t>
                </a:r>
                <a:r>
                  <a:rPr lang="en-US" sz="900" dirty="0"/>
                  <a:t> </a:t>
                </a:r>
                <a:r>
                  <a:rPr lang="en-US" sz="900" dirty="0" err="1"/>
                  <a:t>liên</a:t>
                </a:r>
                <a:r>
                  <a:rPr lang="en-US" sz="900" dirty="0"/>
                  <a:t> </a:t>
                </a:r>
                <a:r>
                  <a:rPr lang="en-US" sz="900" dirty="0" err="1"/>
                  <a:t>tục</a:t>
                </a:r>
                <a:r>
                  <a:rPr lang="en-US" sz="900" dirty="0"/>
                  <a:t> </a:t>
                </a:r>
                <a:r>
                  <a:rPr lang="en-US" sz="900" dirty="0" err="1"/>
                  <a:t>bằng</a:t>
                </a:r>
                <a:r>
                  <a:rPr lang="en-US" sz="900" dirty="0"/>
                  <a:t> </a:t>
                </a:r>
                <a:r>
                  <a:rPr lang="en-US" sz="900" dirty="0" err="1"/>
                  <a:t>nước</a:t>
                </a:r>
                <a:r>
                  <a:rPr lang="en-US" sz="900" dirty="0"/>
                  <a:t>, y/c </a:t>
                </a:r>
                <a:r>
                  <a:rPr lang="en-US" sz="900" dirty="0" err="1"/>
                  <a:t>hỗ</a:t>
                </a:r>
                <a:r>
                  <a:rPr lang="en-US" sz="900" dirty="0"/>
                  <a:t> </a:t>
                </a:r>
                <a:r>
                  <a:rPr lang="en-US" sz="900" dirty="0" err="1"/>
                  <a:t>trợ</a:t>
                </a:r>
                <a:r>
                  <a:rPr lang="en-US" sz="900" dirty="0"/>
                  <a:t> y </a:t>
                </a:r>
                <a:r>
                  <a:rPr lang="en-US" sz="900" dirty="0" err="1"/>
                  <a:t>tế</a:t>
                </a:r>
                <a:endParaRPr lang="en-US" sz="900" dirty="0"/>
              </a:p>
            </p:txBody>
          </p:sp>
          <p:sp>
            <p:nvSpPr>
              <p:cNvPr id="14" name="TextBox 13"/>
              <p:cNvSpPr txBox="1"/>
              <p:nvPr/>
            </p:nvSpPr>
            <p:spPr>
              <a:xfrm>
                <a:off x="9017000" y="3505200"/>
                <a:ext cx="2946400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900"/>
                  <a:t>Đảm bảo môi trường thông thoáng tại nơi làm việc</a:t>
                </a:r>
              </a:p>
              <a:p>
                <a:r>
                  <a:rPr lang="en-US" sz="900"/>
                  <a:t>Mặc quần áo, thiết bị bảo hộ khi làm việc</a:t>
                </a:r>
              </a:p>
              <a:p>
                <a:r>
                  <a:rPr lang="en-US" sz="900"/>
                  <a:t>Không ăn, uống và hút thuốc tại khu vực làm việc. Rửa tay sau khi sử dụng</a:t>
                </a:r>
              </a:p>
            </p:txBody>
          </p:sp>
        </p:grpSp>
        <p:sp>
          <p:nvSpPr>
            <p:cNvPr id="16" name="TextBox 15"/>
            <p:cNvSpPr txBox="1"/>
            <p:nvPr/>
          </p:nvSpPr>
          <p:spPr>
            <a:xfrm>
              <a:off x="9417050" y="4178300"/>
              <a:ext cx="1193800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900" dirty="0"/>
                <a:t>23/10/2026</a:t>
              </a:r>
            </a:p>
          </p:txBody>
        </p:sp>
        <p:sp>
          <p:nvSpPr>
            <p:cNvPr id="17" name="TextBox 16"/>
            <p:cNvSpPr txBox="1"/>
            <p:nvPr/>
          </p:nvSpPr>
          <p:spPr>
            <a:xfrm>
              <a:off x="9417050" y="4356100"/>
              <a:ext cx="1193800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900" dirty="0"/>
                <a:t>23/10/2027</a:t>
              </a:r>
            </a:p>
          </p:txBody>
        </p:sp>
        <p:sp>
          <p:nvSpPr>
            <p:cNvPr id="18" name="TextBox 17"/>
            <p:cNvSpPr txBox="1"/>
            <p:nvPr/>
          </p:nvSpPr>
          <p:spPr>
            <a:xfrm>
              <a:off x="7054118" y="5705475"/>
              <a:ext cx="611066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100" dirty="0"/>
                <a:t>Oxygen</a:t>
              </a:r>
            </a:p>
          </p:txBody>
        </p:sp>
        <p:sp>
          <p:nvSpPr>
            <p:cNvPr id="19" name="TextBox 18"/>
            <p:cNvSpPr txBox="1"/>
            <p:nvPr/>
          </p:nvSpPr>
          <p:spPr>
            <a:xfrm>
              <a:off x="9095373" y="5705475"/>
              <a:ext cx="338554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200" dirty="0"/>
                <a:t>O</a:t>
              </a:r>
              <a:r>
                <a:rPr lang="en-US" sz="1200" baseline="-25000" dirty="0"/>
                <a:t>2</a:t>
              </a:r>
            </a:p>
          </p:txBody>
        </p:sp>
        <p:sp>
          <p:nvSpPr>
            <p:cNvPr id="20" name="TextBox 19"/>
            <p:cNvSpPr txBox="1"/>
            <p:nvPr/>
          </p:nvSpPr>
          <p:spPr>
            <a:xfrm>
              <a:off x="10674048" y="5705475"/>
              <a:ext cx="686406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KR" sz="1200" i="0" dirty="0">
                  <a:effectLst/>
                  <a:latin typeface="Calibri" panose="020F0502020204030204" pitchFamily="34" charset="0"/>
                  <a:cs typeface="Calibri" panose="020F0502020204030204" pitchFamily="34" charset="0"/>
                </a:rPr>
                <a:t>15.01</a:t>
              </a:r>
              <a:r>
                <a:rPr lang="en-US" sz="1200" dirty="0">
                  <a:latin typeface="Calibri" panose="020F0502020204030204" pitchFamily="34" charset="0"/>
                  <a:cs typeface="Calibri" panose="020F0502020204030204" pitchFamily="34" charset="0"/>
                </a:rPr>
                <a:t> </a:t>
              </a:r>
              <a:r>
                <a:rPr lang="en-US" sz="1200" dirty="0"/>
                <a:t>%</a:t>
              </a:r>
            </a:p>
          </p:txBody>
        </p:sp>
        <p:sp>
          <p:nvSpPr>
            <p:cNvPr id="21" name="TextBox 20"/>
            <p:cNvSpPr txBox="1"/>
            <p:nvPr/>
          </p:nvSpPr>
          <p:spPr>
            <a:xfrm>
              <a:off x="9353504" y="4832350"/>
              <a:ext cx="304892" cy="21544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800" b="1" dirty="0">
                  <a:solidFill>
                    <a:schemeClr val="bg1"/>
                  </a:solidFill>
                </a:rPr>
                <a:t>O2</a:t>
              </a:r>
              <a:endParaRPr lang="en-US" sz="800" b="1" baseline="-25000" dirty="0">
                <a:solidFill>
                  <a:schemeClr val="bg1"/>
                </a:solidFill>
              </a:endParaRPr>
            </a:p>
          </p:txBody>
        </p:sp>
        <p:sp>
          <p:nvSpPr>
            <p:cNvPr id="22" name="TextBox 21"/>
            <p:cNvSpPr txBox="1"/>
            <p:nvPr/>
          </p:nvSpPr>
          <p:spPr>
            <a:xfrm>
              <a:off x="9586417" y="4585900"/>
              <a:ext cx="397866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400" b="1" dirty="0">
                  <a:solidFill>
                    <a:schemeClr val="bg1"/>
                  </a:solidFill>
                </a:rPr>
                <a:t>O2</a:t>
              </a:r>
              <a:endParaRPr lang="en-US" sz="1400" b="1" baseline="-25000" dirty="0">
                <a:solidFill>
                  <a:schemeClr val="bg1"/>
                </a:solidFill>
              </a:endParaRPr>
            </a:p>
          </p:txBody>
        </p:sp>
      </p:grpSp>
      <p:sp>
        <p:nvSpPr>
          <p:cNvPr id="24" name="TextBox 23">
            <a:extLst>
              <a:ext uri="{FF2B5EF4-FFF2-40B4-BE49-F238E27FC236}">
                <a16:creationId xmlns:a16="http://schemas.microsoft.com/office/drawing/2014/main" id="{D27009B6-AB19-C64C-91C9-B7FB2BBDF9A8}"/>
              </a:ext>
            </a:extLst>
          </p:cNvPr>
          <p:cNvSpPr txBox="1"/>
          <p:nvPr/>
        </p:nvSpPr>
        <p:spPr>
          <a:xfrm>
            <a:off x="7015647" y="5967085"/>
            <a:ext cx="68801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100" dirty="0"/>
              <a:t>Nitrogen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2A6C800F-D23E-9648-A7A0-E80C27BAA579}"/>
              </a:ext>
            </a:extLst>
          </p:cNvPr>
          <p:cNvSpPr txBox="1"/>
          <p:nvPr/>
        </p:nvSpPr>
        <p:spPr>
          <a:xfrm>
            <a:off x="9104571" y="5945108"/>
            <a:ext cx="33534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200" dirty="0"/>
              <a:t>N</a:t>
            </a:r>
            <a:r>
              <a:rPr lang="en-US" sz="1200" baseline="-25000" dirty="0"/>
              <a:t>2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95760E38-66A2-EA4F-8953-39D316A5444B}"/>
              </a:ext>
            </a:extLst>
          </p:cNvPr>
          <p:cNvSpPr txBox="1"/>
          <p:nvPr/>
        </p:nvSpPr>
        <p:spPr>
          <a:xfrm>
            <a:off x="10635436" y="5945843"/>
            <a:ext cx="76174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200" i="0" dirty="0" err="1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Cân</a:t>
            </a:r>
            <a:r>
              <a:rPr lang="en-US" sz="1200" i="0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200" i="0" dirty="0" err="1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bằng</a:t>
            </a:r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330076819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22"/>
          <p:cNvGrpSpPr/>
          <p:nvPr/>
        </p:nvGrpSpPr>
        <p:grpSpPr>
          <a:xfrm>
            <a:off x="0" y="15281"/>
            <a:ext cx="12192000" cy="6842719"/>
            <a:chOff x="0" y="15281"/>
            <a:chExt cx="12192000" cy="6842719"/>
          </a:xfrm>
        </p:grpSpPr>
        <p:grpSp>
          <p:nvGrpSpPr>
            <p:cNvPr id="15" name="Group 14"/>
            <p:cNvGrpSpPr/>
            <p:nvPr/>
          </p:nvGrpSpPr>
          <p:grpSpPr>
            <a:xfrm>
              <a:off x="0" y="15281"/>
              <a:ext cx="12192000" cy="6842719"/>
              <a:chOff x="0" y="15281"/>
              <a:chExt cx="12192000" cy="6842719"/>
            </a:xfrm>
          </p:grpSpPr>
          <p:pic>
            <p:nvPicPr>
              <p:cNvPr id="4" name="Picture 3"/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0" y="15281"/>
                <a:ext cx="12192000" cy="6842719"/>
              </a:xfrm>
              <a:prstGeom prst="rect">
                <a:avLst/>
              </a:prstGeom>
            </p:spPr>
          </p:pic>
          <p:sp>
            <p:nvSpPr>
              <p:cNvPr id="5" name="TextBox 4"/>
              <p:cNvSpPr txBox="1"/>
              <p:nvPr/>
            </p:nvSpPr>
            <p:spPr>
              <a:xfrm>
                <a:off x="9017000" y="1282700"/>
                <a:ext cx="660400" cy="2308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900"/>
                  <a:t>10L</a:t>
                </a:r>
              </a:p>
            </p:txBody>
          </p:sp>
          <p:sp>
            <p:nvSpPr>
              <p:cNvPr id="6" name="TextBox 5"/>
              <p:cNvSpPr txBox="1"/>
              <p:nvPr/>
            </p:nvSpPr>
            <p:spPr>
              <a:xfrm>
                <a:off x="9017000" y="1479550"/>
                <a:ext cx="660400" cy="2308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900"/>
                  <a:t>QF-2</a:t>
                </a:r>
              </a:p>
            </p:txBody>
          </p:sp>
          <p:sp>
            <p:nvSpPr>
              <p:cNvPr id="7" name="TextBox 6"/>
              <p:cNvSpPr txBox="1"/>
              <p:nvPr/>
            </p:nvSpPr>
            <p:spPr>
              <a:xfrm>
                <a:off x="9017000" y="1682750"/>
                <a:ext cx="660400" cy="2308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900" dirty="0" err="1"/>
                  <a:t>Nhôm</a:t>
                </a:r>
                <a:endParaRPr lang="en-US" sz="900" dirty="0"/>
              </a:p>
            </p:txBody>
          </p:sp>
          <p:sp>
            <p:nvSpPr>
              <p:cNvPr id="8" name="TextBox 7"/>
              <p:cNvSpPr txBox="1"/>
              <p:nvPr/>
            </p:nvSpPr>
            <p:spPr>
              <a:xfrm>
                <a:off x="9017000" y="1879600"/>
                <a:ext cx="660400" cy="2308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900" dirty="0"/>
                  <a:t>15 MPa</a:t>
                </a:r>
              </a:p>
            </p:txBody>
          </p:sp>
          <p:sp>
            <p:nvSpPr>
              <p:cNvPr id="9" name="TextBox 8"/>
              <p:cNvSpPr txBox="1"/>
              <p:nvPr/>
            </p:nvSpPr>
            <p:spPr>
              <a:xfrm>
                <a:off x="9017000" y="2095500"/>
                <a:ext cx="1098550" cy="2308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KR" sz="900" b="0" i="0" dirty="0">
                    <a:effectLst/>
                    <a:latin typeface="Calibri" panose="020F0502020204030204" pitchFamily="34" charset="0"/>
                    <a:cs typeface="Calibri" panose="020F0502020204030204" pitchFamily="34" charset="0"/>
                  </a:rPr>
                  <a:t>93201086 </a:t>
                </a:r>
                <a:endParaRPr lang="en-US" sz="900" dirty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10" name="TextBox 9"/>
              <p:cNvSpPr txBox="1"/>
              <p:nvPr/>
            </p:nvSpPr>
            <p:spPr>
              <a:xfrm>
                <a:off x="9017000" y="2298700"/>
                <a:ext cx="660400" cy="2308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900"/>
                  <a:t>UN 1066</a:t>
                </a:r>
              </a:p>
            </p:txBody>
          </p:sp>
          <p:sp>
            <p:nvSpPr>
              <p:cNvPr id="11" name="TextBox 10"/>
              <p:cNvSpPr txBox="1"/>
              <p:nvPr/>
            </p:nvSpPr>
            <p:spPr>
              <a:xfrm>
                <a:off x="9017000" y="2514600"/>
                <a:ext cx="660400" cy="2308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endParaRPr lang="en-US" sz="900"/>
              </a:p>
            </p:txBody>
          </p:sp>
          <p:sp>
            <p:nvSpPr>
              <p:cNvPr id="12" name="TextBox 11"/>
              <p:cNvSpPr txBox="1"/>
              <p:nvPr/>
            </p:nvSpPr>
            <p:spPr>
              <a:xfrm>
                <a:off x="9017000" y="2717800"/>
                <a:ext cx="660400" cy="2308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900"/>
                  <a:t>Việt Nam</a:t>
                </a:r>
              </a:p>
            </p:txBody>
          </p:sp>
          <p:sp>
            <p:nvSpPr>
              <p:cNvPr id="13" name="TextBox 12"/>
              <p:cNvSpPr txBox="1"/>
              <p:nvPr/>
            </p:nvSpPr>
            <p:spPr>
              <a:xfrm>
                <a:off x="9017000" y="2933700"/>
                <a:ext cx="2946400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900" dirty="0" err="1"/>
                  <a:t>Nếu</a:t>
                </a:r>
                <a:r>
                  <a:rPr lang="en-US" sz="900" dirty="0"/>
                  <a:t> </a:t>
                </a:r>
                <a:r>
                  <a:rPr lang="en-US" sz="900" dirty="0" err="1"/>
                  <a:t>nuốt</a:t>
                </a:r>
                <a:r>
                  <a:rPr lang="en-US" sz="900" dirty="0"/>
                  <a:t> </a:t>
                </a:r>
                <a:r>
                  <a:rPr lang="en-US" sz="900" dirty="0" err="1"/>
                  <a:t>phải</a:t>
                </a:r>
                <a:r>
                  <a:rPr lang="en-US" sz="900" dirty="0"/>
                  <a:t>: </a:t>
                </a:r>
                <a:r>
                  <a:rPr lang="en-US" sz="900" dirty="0" err="1"/>
                  <a:t>yêu</a:t>
                </a:r>
                <a:r>
                  <a:rPr lang="en-US" sz="900" dirty="0"/>
                  <a:t> </a:t>
                </a:r>
                <a:r>
                  <a:rPr lang="en-US" sz="900" dirty="0" err="1"/>
                  <a:t>cầu</a:t>
                </a:r>
                <a:r>
                  <a:rPr lang="en-US" sz="900" dirty="0"/>
                  <a:t> </a:t>
                </a:r>
                <a:r>
                  <a:rPr lang="en-US" sz="900" dirty="0" err="1"/>
                  <a:t>hồ</a:t>
                </a:r>
                <a:r>
                  <a:rPr lang="en-US" sz="900" dirty="0"/>
                  <a:t> </a:t>
                </a:r>
                <a:r>
                  <a:rPr lang="en-US" sz="900" dirty="0" err="1"/>
                  <a:t>trợ</a:t>
                </a:r>
                <a:r>
                  <a:rPr lang="en-US" sz="900" dirty="0"/>
                  <a:t> y </a:t>
                </a:r>
                <a:r>
                  <a:rPr lang="en-US" sz="900" dirty="0" err="1"/>
                  <a:t>tế</a:t>
                </a:r>
                <a:r>
                  <a:rPr lang="en-US" sz="900" dirty="0"/>
                  <a:t> </a:t>
                </a:r>
                <a:r>
                  <a:rPr lang="en-US" sz="900" dirty="0" err="1"/>
                  <a:t>nếu</a:t>
                </a:r>
                <a:r>
                  <a:rPr lang="en-US" sz="900" dirty="0"/>
                  <a:t> </a:t>
                </a:r>
                <a:r>
                  <a:rPr lang="en-US" sz="900" dirty="0" err="1"/>
                  <a:t>thấy</a:t>
                </a:r>
                <a:r>
                  <a:rPr lang="en-US" sz="900" dirty="0"/>
                  <a:t> </a:t>
                </a:r>
                <a:r>
                  <a:rPr lang="en-US" sz="900" dirty="0" err="1"/>
                  <a:t>khó</a:t>
                </a:r>
                <a:r>
                  <a:rPr lang="en-US" sz="900" dirty="0"/>
                  <a:t> </a:t>
                </a:r>
                <a:r>
                  <a:rPr lang="en-US" sz="900" dirty="0" err="1"/>
                  <a:t>chịu</a:t>
                </a:r>
                <a:endParaRPr lang="en-US" sz="900" dirty="0"/>
              </a:p>
              <a:p>
                <a:r>
                  <a:rPr lang="en-US" sz="900" dirty="0" err="1"/>
                  <a:t>Nếu</a:t>
                </a:r>
                <a:r>
                  <a:rPr lang="en-US" sz="900" dirty="0"/>
                  <a:t> </a:t>
                </a:r>
                <a:r>
                  <a:rPr lang="en-US" sz="900" dirty="0" err="1"/>
                  <a:t>hít</a:t>
                </a:r>
                <a:r>
                  <a:rPr lang="en-US" sz="900" dirty="0"/>
                  <a:t> </a:t>
                </a:r>
                <a:r>
                  <a:rPr lang="en-US" sz="900" dirty="0" err="1"/>
                  <a:t>phải</a:t>
                </a:r>
                <a:r>
                  <a:rPr lang="en-US" sz="900" dirty="0"/>
                  <a:t>: di </a:t>
                </a:r>
                <a:r>
                  <a:rPr lang="en-US" sz="900" dirty="0" err="1"/>
                  <a:t>chuyển</a:t>
                </a:r>
                <a:r>
                  <a:rPr lang="en-US" sz="900" dirty="0"/>
                  <a:t> </a:t>
                </a:r>
                <a:r>
                  <a:rPr lang="en-US" sz="900" dirty="0" err="1"/>
                  <a:t>nạn</a:t>
                </a:r>
                <a:r>
                  <a:rPr lang="en-US" sz="900" dirty="0"/>
                  <a:t> </a:t>
                </a:r>
                <a:r>
                  <a:rPr lang="en-US" sz="900" dirty="0" err="1"/>
                  <a:t>nhân</a:t>
                </a:r>
                <a:r>
                  <a:rPr lang="en-US" sz="900" dirty="0"/>
                  <a:t> </a:t>
                </a:r>
                <a:r>
                  <a:rPr lang="en-US" sz="900" dirty="0" err="1"/>
                  <a:t>tới</a:t>
                </a:r>
                <a:r>
                  <a:rPr lang="en-US" sz="900" dirty="0"/>
                  <a:t> </a:t>
                </a:r>
                <a:r>
                  <a:rPr lang="en-US" sz="900" dirty="0" err="1"/>
                  <a:t>chỗ</a:t>
                </a:r>
                <a:r>
                  <a:rPr lang="en-US" sz="900" dirty="0"/>
                  <a:t> </a:t>
                </a:r>
                <a:r>
                  <a:rPr lang="en-US" sz="900" dirty="0" err="1"/>
                  <a:t>thoáng</a:t>
                </a:r>
                <a:r>
                  <a:rPr lang="en-US" sz="900" dirty="0"/>
                  <a:t> </a:t>
                </a:r>
                <a:r>
                  <a:rPr lang="en-US" sz="900" dirty="0" err="1"/>
                  <a:t>khí</a:t>
                </a:r>
                <a:endParaRPr lang="en-US" sz="900" dirty="0"/>
              </a:p>
              <a:p>
                <a:r>
                  <a:rPr lang="en-US" sz="900" dirty="0" err="1"/>
                  <a:t>Nếu</a:t>
                </a:r>
                <a:r>
                  <a:rPr lang="en-US" sz="900" dirty="0"/>
                  <a:t> </a:t>
                </a:r>
                <a:r>
                  <a:rPr lang="en-US" sz="900" dirty="0" err="1"/>
                  <a:t>dính</a:t>
                </a:r>
                <a:r>
                  <a:rPr lang="en-US" sz="900" dirty="0"/>
                  <a:t> </a:t>
                </a:r>
                <a:r>
                  <a:rPr lang="en-US" sz="900" dirty="0" err="1"/>
                  <a:t>vào</a:t>
                </a:r>
                <a:r>
                  <a:rPr lang="en-US" sz="900" dirty="0"/>
                  <a:t> da: </a:t>
                </a:r>
                <a:r>
                  <a:rPr lang="en-US" sz="900" dirty="0" err="1"/>
                  <a:t>rửa</a:t>
                </a:r>
                <a:r>
                  <a:rPr lang="en-US" sz="900" dirty="0"/>
                  <a:t> </a:t>
                </a:r>
                <a:r>
                  <a:rPr lang="en-US" sz="900" dirty="0" err="1"/>
                  <a:t>sạch</a:t>
                </a:r>
                <a:r>
                  <a:rPr lang="en-US" sz="900" dirty="0"/>
                  <a:t> </a:t>
                </a:r>
                <a:r>
                  <a:rPr lang="en-US" sz="900" dirty="0" err="1"/>
                  <a:t>với</a:t>
                </a:r>
                <a:r>
                  <a:rPr lang="en-US" sz="900" dirty="0"/>
                  <a:t> </a:t>
                </a:r>
                <a:r>
                  <a:rPr lang="en-US" sz="900" dirty="0" err="1"/>
                  <a:t>nhiều</a:t>
                </a:r>
                <a:r>
                  <a:rPr lang="en-US" sz="900" dirty="0"/>
                  <a:t> </a:t>
                </a:r>
                <a:r>
                  <a:rPr lang="en-US" sz="900" dirty="0" err="1"/>
                  <a:t>nước</a:t>
                </a:r>
                <a:endParaRPr lang="en-US" sz="900" dirty="0"/>
              </a:p>
              <a:p>
                <a:r>
                  <a:rPr lang="en-US" sz="900" dirty="0" err="1"/>
                  <a:t>Nếu</a:t>
                </a:r>
                <a:r>
                  <a:rPr lang="en-US" sz="900" dirty="0"/>
                  <a:t> </a:t>
                </a:r>
                <a:r>
                  <a:rPr lang="en-US" sz="900" dirty="0" err="1"/>
                  <a:t>dính</a:t>
                </a:r>
                <a:r>
                  <a:rPr lang="en-US" sz="900" dirty="0"/>
                  <a:t> </a:t>
                </a:r>
                <a:r>
                  <a:rPr lang="en-US" sz="900" dirty="0" err="1"/>
                  <a:t>vào</a:t>
                </a:r>
                <a:r>
                  <a:rPr lang="en-US" sz="900" dirty="0"/>
                  <a:t> </a:t>
                </a:r>
                <a:r>
                  <a:rPr lang="en-US" sz="900" dirty="0" err="1"/>
                  <a:t>mắt</a:t>
                </a:r>
                <a:r>
                  <a:rPr lang="en-US" sz="900" dirty="0"/>
                  <a:t>: </a:t>
                </a:r>
                <a:r>
                  <a:rPr lang="en-US" sz="900" dirty="0" err="1"/>
                  <a:t>rửa</a:t>
                </a:r>
                <a:r>
                  <a:rPr lang="en-US" sz="900" dirty="0"/>
                  <a:t> </a:t>
                </a:r>
                <a:r>
                  <a:rPr lang="en-US" sz="900" dirty="0" err="1"/>
                  <a:t>liên</a:t>
                </a:r>
                <a:r>
                  <a:rPr lang="en-US" sz="900" dirty="0"/>
                  <a:t> </a:t>
                </a:r>
                <a:r>
                  <a:rPr lang="en-US" sz="900" dirty="0" err="1"/>
                  <a:t>tục</a:t>
                </a:r>
                <a:r>
                  <a:rPr lang="en-US" sz="900" dirty="0"/>
                  <a:t> </a:t>
                </a:r>
                <a:r>
                  <a:rPr lang="en-US" sz="900" dirty="0" err="1"/>
                  <a:t>bằng</a:t>
                </a:r>
                <a:r>
                  <a:rPr lang="en-US" sz="900" dirty="0"/>
                  <a:t> </a:t>
                </a:r>
                <a:r>
                  <a:rPr lang="en-US" sz="900" dirty="0" err="1"/>
                  <a:t>nước</a:t>
                </a:r>
                <a:r>
                  <a:rPr lang="en-US" sz="900" dirty="0"/>
                  <a:t>, y/c </a:t>
                </a:r>
                <a:r>
                  <a:rPr lang="en-US" sz="900" dirty="0" err="1"/>
                  <a:t>hỗ</a:t>
                </a:r>
                <a:r>
                  <a:rPr lang="en-US" sz="900" dirty="0"/>
                  <a:t> </a:t>
                </a:r>
                <a:r>
                  <a:rPr lang="en-US" sz="900" dirty="0" err="1"/>
                  <a:t>trợ</a:t>
                </a:r>
                <a:r>
                  <a:rPr lang="en-US" sz="900" dirty="0"/>
                  <a:t> y </a:t>
                </a:r>
                <a:r>
                  <a:rPr lang="en-US" sz="900" dirty="0" err="1"/>
                  <a:t>tế</a:t>
                </a:r>
                <a:endParaRPr lang="en-US" sz="900" dirty="0"/>
              </a:p>
            </p:txBody>
          </p:sp>
          <p:sp>
            <p:nvSpPr>
              <p:cNvPr id="14" name="TextBox 13"/>
              <p:cNvSpPr txBox="1"/>
              <p:nvPr/>
            </p:nvSpPr>
            <p:spPr>
              <a:xfrm>
                <a:off x="9017000" y="3505200"/>
                <a:ext cx="2946400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900"/>
                  <a:t>Đảm bảo môi trường thông thoáng tại nơi làm việc</a:t>
                </a:r>
              </a:p>
              <a:p>
                <a:r>
                  <a:rPr lang="en-US" sz="900"/>
                  <a:t>Mặc quần áo, thiết bị bảo hộ khi làm việc</a:t>
                </a:r>
              </a:p>
              <a:p>
                <a:r>
                  <a:rPr lang="en-US" sz="900"/>
                  <a:t>Không ăn, uống và hút thuốc tại khu vực làm việc. Rửa tay sau khi sử dụng</a:t>
                </a:r>
              </a:p>
            </p:txBody>
          </p:sp>
        </p:grpSp>
        <p:sp>
          <p:nvSpPr>
            <p:cNvPr id="16" name="TextBox 15"/>
            <p:cNvSpPr txBox="1"/>
            <p:nvPr/>
          </p:nvSpPr>
          <p:spPr>
            <a:xfrm>
              <a:off x="9417050" y="4178300"/>
              <a:ext cx="1193800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900" dirty="0"/>
                <a:t>23/10/2026</a:t>
              </a:r>
            </a:p>
          </p:txBody>
        </p:sp>
        <p:sp>
          <p:nvSpPr>
            <p:cNvPr id="17" name="TextBox 16"/>
            <p:cNvSpPr txBox="1"/>
            <p:nvPr/>
          </p:nvSpPr>
          <p:spPr>
            <a:xfrm>
              <a:off x="9417050" y="4356100"/>
              <a:ext cx="1193800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900" dirty="0"/>
                <a:t>23/10/2027</a:t>
              </a:r>
            </a:p>
          </p:txBody>
        </p:sp>
        <p:sp>
          <p:nvSpPr>
            <p:cNvPr id="18" name="TextBox 17"/>
            <p:cNvSpPr txBox="1"/>
            <p:nvPr/>
          </p:nvSpPr>
          <p:spPr>
            <a:xfrm>
              <a:off x="6951528" y="5705475"/>
              <a:ext cx="816249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100" dirty="0"/>
                <a:t>Nitro oxide</a:t>
              </a:r>
            </a:p>
          </p:txBody>
        </p:sp>
        <p:sp>
          <p:nvSpPr>
            <p:cNvPr id="19" name="TextBox 18"/>
            <p:cNvSpPr txBox="1"/>
            <p:nvPr/>
          </p:nvSpPr>
          <p:spPr>
            <a:xfrm>
              <a:off x="9071328" y="5705475"/>
              <a:ext cx="386645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200" dirty="0"/>
                <a:t>NO</a:t>
              </a:r>
              <a:endParaRPr lang="en-US" sz="1200" baseline="-25000" dirty="0"/>
            </a:p>
          </p:txBody>
        </p:sp>
        <p:sp>
          <p:nvSpPr>
            <p:cNvPr id="20" name="TextBox 19"/>
            <p:cNvSpPr txBox="1"/>
            <p:nvPr/>
          </p:nvSpPr>
          <p:spPr>
            <a:xfrm>
              <a:off x="10643591" y="5705475"/>
              <a:ext cx="747320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200" b="0" i="0" dirty="0">
                  <a:solidFill>
                    <a:srgbClr val="081B3A"/>
                  </a:solidFill>
                  <a:effectLst/>
                  <a:latin typeface="SegoeuiPc"/>
                </a:rPr>
                <a:t>457ppm</a:t>
              </a:r>
              <a:endParaRPr lang="en-US" sz="1200" dirty="0"/>
            </a:p>
          </p:txBody>
        </p:sp>
        <p:sp>
          <p:nvSpPr>
            <p:cNvPr id="21" name="TextBox 20"/>
            <p:cNvSpPr txBox="1"/>
            <p:nvPr/>
          </p:nvSpPr>
          <p:spPr>
            <a:xfrm>
              <a:off x="9353504" y="4832350"/>
              <a:ext cx="304892" cy="21544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800" b="1" dirty="0">
                  <a:solidFill>
                    <a:schemeClr val="bg1"/>
                  </a:solidFill>
                </a:rPr>
                <a:t>O2</a:t>
              </a:r>
              <a:endParaRPr lang="en-US" sz="800" b="1" baseline="-25000" dirty="0">
                <a:solidFill>
                  <a:schemeClr val="bg1"/>
                </a:solidFill>
              </a:endParaRPr>
            </a:p>
          </p:txBody>
        </p:sp>
        <p:sp>
          <p:nvSpPr>
            <p:cNvPr id="22" name="TextBox 21"/>
            <p:cNvSpPr txBox="1"/>
            <p:nvPr/>
          </p:nvSpPr>
          <p:spPr>
            <a:xfrm>
              <a:off x="9586417" y="4585900"/>
              <a:ext cx="397866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400" b="1" dirty="0">
                  <a:solidFill>
                    <a:schemeClr val="bg1"/>
                  </a:solidFill>
                </a:rPr>
                <a:t>O2</a:t>
              </a:r>
              <a:endParaRPr lang="en-US" sz="1400" b="1" baseline="-25000" dirty="0">
                <a:solidFill>
                  <a:schemeClr val="bg1"/>
                </a:solidFill>
              </a:endParaRPr>
            </a:p>
          </p:txBody>
        </p:sp>
      </p:grpSp>
      <p:sp>
        <p:nvSpPr>
          <p:cNvPr id="24" name="TextBox 23">
            <a:extLst>
              <a:ext uri="{FF2B5EF4-FFF2-40B4-BE49-F238E27FC236}">
                <a16:creationId xmlns:a16="http://schemas.microsoft.com/office/drawing/2014/main" id="{D27009B6-AB19-C64C-91C9-B7FB2BBDF9A8}"/>
              </a:ext>
            </a:extLst>
          </p:cNvPr>
          <p:cNvSpPr txBox="1"/>
          <p:nvPr/>
        </p:nvSpPr>
        <p:spPr>
          <a:xfrm>
            <a:off x="7015647" y="5967085"/>
            <a:ext cx="68801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100" dirty="0"/>
              <a:t>Nitrogen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2A6C800F-D23E-9648-A7A0-E80C27BAA579}"/>
              </a:ext>
            </a:extLst>
          </p:cNvPr>
          <p:cNvSpPr txBox="1"/>
          <p:nvPr/>
        </p:nvSpPr>
        <p:spPr>
          <a:xfrm>
            <a:off x="9104571" y="5945108"/>
            <a:ext cx="33534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200" dirty="0"/>
              <a:t>N</a:t>
            </a:r>
            <a:r>
              <a:rPr lang="en-US" sz="1200" baseline="-25000" dirty="0"/>
              <a:t>2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95760E38-66A2-EA4F-8953-39D316A5444B}"/>
              </a:ext>
            </a:extLst>
          </p:cNvPr>
          <p:cNvSpPr txBox="1"/>
          <p:nvPr/>
        </p:nvSpPr>
        <p:spPr>
          <a:xfrm>
            <a:off x="10635436" y="5945843"/>
            <a:ext cx="76174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200" i="0" dirty="0" err="1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Cân</a:t>
            </a:r>
            <a:r>
              <a:rPr lang="en-US" sz="1200" i="0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200" i="0" dirty="0" err="1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bằng</a:t>
            </a:r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124246435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81</TotalTime>
  <Words>345</Words>
  <Application>Microsoft Macintosh PowerPoint</Application>
  <PresentationFormat>Widescreen</PresentationFormat>
  <Paragraphs>69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8" baseType="lpstr">
      <vt:lpstr>SegoeuiPc</vt:lpstr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vu tai giang</dc:creator>
  <cp:lastModifiedBy>Microsoft Office User</cp:lastModifiedBy>
  <cp:revision>34</cp:revision>
  <dcterms:created xsi:type="dcterms:W3CDTF">2025-04-18T02:52:21Z</dcterms:created>
  <dcterms:modified xsi:type="dcterms:W3CDTF">2026-10-23T04:06:28Z</dcterms:modified>
</cp:coreProperties>
</file>